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sldIdLst>
    <p:sldId id="281" r:id="rId3"/>
    <p:sldId id="283" r:id="rId4"/>
    <p:sldId id="284" r:id="rId5"/>
    <p:sldId id="285" r:id="rId6"/>
    <p:sldId id="286" r:id="rId7"/>
    <p:sldId id="287" r:id="rId8"/>
    <p:sldId id="289" r:id="rId9"/>
    <p:sldId id="290" r:id="rId10"/>
    <p:sldId id="292" r:id="rId11"/>
  </p:sldIdLst>
  <p:sldSz cx="12192000" cy="6858000"/>
  <p:notesSz cx="6858000" cy="9144000"/>
  <p:embeddedFontLst>
    <p:embeddedFont>
      <p:font typeface="方正黑体_GBK" panose="02010600010101010101" charset="-122"/>
      <p:regular r:id="rId16"/>
    </p:embeddedFont>
    <p:embeddedFont>
      <p:font typeface="微软雅黑" panose="020B0503020204020204" pitchFamily="34" charset="-122"/>
      <p:regular r:id="rId17"/>
      <p:bold r:id="rId18"/>
    </p:embeddedFont>
    <p:embeddedFont>
      <p:font typeface="等线" panose="02010600030101010101" charset="-122"/>
      <p:regular r:id="rId19"/>
      <p:bold r:id="rId2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1" userDrawn="1">
          <p15:clr>
            <a:srgbClr val="A4A3A4"/>
          </p15:clr>
        </p15:guide>
        <p15:guide id="2" pos="38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97B"/>
    <a:srgbClr val="004878"/>
    <a:srgbClr val="014576"/>
    <a:srgbClr val="01416D"/>
    <a:srgbClr val="000000"/>
    <a:srgbClr val="E3F4FC"/>
    <a:srgbClr val="C6E7FA"/>
    <a:srgbClr val="003456"/>
    <a:srgbClr val="EFF8FD"/>
    <a:srgbClr val="F5B8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285" y="58"/>
      </p:cViewPr>
      <p:guideLst>
        <p:guide orient="horz" pos="2171"/>
        <p:guide pos="382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1F23A6-3F4C-40B5-A3CF-D1C44B7BBE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274108-30BB-46EF-825B-62637015799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776330628-1"/>
          <p:cNvPicPr>
            <a:picLocks noChangeAspect="1"/>
          </p:cNvPicPr>
          <p:nvPr/>
        </p:nvPicPr>
        <p:blipFill>
          <a:blip r:embed="rId1"/>
          <a:srcRect l="10157" r="10315"/>
          <a:stretch>
            <a:fillRect/>
          </a:stretch>
        </p:blipFill>
        <p:spPr>
          <a:xfrm rot="5400000">
            <a:off x="2610485" y="-2722880"/>
            <a:ext cx="6908165" cy="122555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7639" y="74930"/>
            <a:ext cx="6071235" cy="64516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threePt" dir="t">
                <a:rot lat="0" lon="0" rev="2400000"/>
              </a:lightRig>
            </a:scene3d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3600" b="1">
                <a:gradFill>
                  <a:gsLst>
                    <a:gs pos="97000">
                      <a:schemeClr val="bg1"/>
                    </a:gs>
                    <a:gs pos="82000">
                      <a:schemeClr val="accent4">
                        <a:lumMod val="20000"/>
                        <a:lumOff val="80000"/>
                      </a:schemeClr>
                    </a:gs>
                    <a:gs pos="35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effectLst/>
                <a:latin typeface="方正黑体_GBK" panose="02010600010101010101" charset="-122"/>
                <a:ea typeface="方正黑体_GBK" panose="02010600010101010101" charset="-122"/>
              </a:rPr>
              <a:t>一、项目背景</a:t>
            </a:r>
            <a:endParaRPr lang="zh-CN" altLang="en-US" sz="3600" b="1">
              <a:gradFill>
                <a:gsLst>
                  <a:gs pos="97000">
                    <a:schemeClr val="bg1"/>
                  </a:gs>
                  <a:gs pos="82000">
                    <a:schemeClr val="accent4">
                      <a:lumMod val="20000"/>
                      <a:lumOff val="80000"/>
                    </a:schemeClr>
                  </a:gs>
                  <a:gs pos="35000">
                    <a:schemeClr val="accent4">
                      <a:lumMod val="60000"/>
                      <a:lumOff val="40000"/>
                    </a:schemeClr>
                  </a:gs>
                </a:gsLst>
                <a:lin ang="5400000" scaled="0"/>
              </a:gradFill>
              <a:effectLst/>
              <a:latin typeface="方正黑体_GBK" panose="02010600010101010101" charset="-122"/>
              <a:ea typeface="方正黑体_GBK" panose="0201060001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4929" y="933092"/>
            <a:ext cx="11535142" cy="963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09600" fontAlgn="auto">
              <a:lnSpc>
                <a:spcPts val="3400"/>
              </a:lnSpc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说明：该部分须立足行业现存痛点与社会实际需求，结合当前发展趋势，明确项目开展的现实意义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不超过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页。</a:t>
            </a:r>
            <a:endParaRPr lang="zh-CN" altLang="en-US" sz="2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83515" y="741680"/>
            <a:ext cx="3858895" cy="38735"/>
            <a:chOff x="2859" y="4551"/>
            <a:chExt cx="6077" cy="61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2859" y="4602"/>
              <a:ext cx="5991" cy="11"/>
            </a:xfrm>
            <a:prstGeom prst="line">
              <a:avLst/>
            </a:prstGeom>
            <a:ln w="101600" cap="rnd">
              <a:gradFill>
                <a:gsLst>
                  <a:gs pos="50000">
                    <a:srgbClr val="004878">
                      <a:lumMod val="99000"/>
                    </a:srgbClr>
                  </a:gs>
                  <a:gs pos="12000">
                    <a:schemeClr val="accent4">
                      <a:lumMod val="20000"/>
                      <a:lumOff val="80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round/>
            </a:ln>
            <a:effectLst/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>
              <a:off x="2946" y="4551"/>
              <a:ext cx="5991" cy="11"/>
            </a:xfrm>
            <a:prstGeom prst="line">
              <a:avLst/>
            </a:prstGeom>
            <a:ln w="79375" cap="rnd">
              <a:solidFill>
                <a:srgbClr val="00497B">
                  <a:alpha val="64000"/>
                </a:srgbClr>
              </a:solidFill>
              <a:round/>
            </a:ln>
            <a:effectLst/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1776330628-1"/>
          <p:cNvPicPr>
            <a:picLocks noChangeAspect="1"/>
          </p:cNvPicPr>
          <p:nvPr/>
        </p:nvPicPr>
        <p:blipFill>
          <a:blip r:embed="rId1"/>
          <a:srcRect l="10157" r="10315"/>
          <a:stretch>
            <a:fillRect/>
          </a:stretch>
        </p:blipFill>
        <p:spPr>
          <a:xfrm rot="5400000">
            <a:off x="2610485" y="-2722880"/>
            <a:ext cx="6908165" cy="122555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7639" y="74930"/>
            <a:ext cx="6071235" cy="64516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threePt" dir="t">
                <a:rot lat="0" lon="0" rev="2400000"/>
              </a:lightRig>
            </a:scene3d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3600" b="1">
                <a:gradFill>
                  <a:gsLst>
                    <a:gs pos="97000">
                      <a:schemeClr val="bg1"/>
                    </a:gs>
                    <a:gs pos="82000">
                      <a:schemeClr val="accent4">
                        <a:lumMod val="20000"/>
                        <a:lumOff val="80000"/>
                      </a:schemeClr>
                    </a:gs>
                    <a:gs pos="35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effectLst/>
                <a:latin typeface="方正黑体_GBK" panose="02010600010101010101" charset="-122"/>
                <a:ea typeface="方正黑体_GBK" panose="02010600010101010101" charset="-122"/>
              </a:rPr>
              <a:t>二、项目整体情况介绍</a:t>
            </a:r>
            <a:endParaRPr lang="zh-CN" altLang="en-US" sz="3600" b="1">
              <a:gradFill>
                <a:gsLst>
                  <a:gs pos="97000">
                    <a:schemeClr val="bg1"/>
                  </a:gs>
                  <a:gs pos="82000">
                    <a:schemeClr val="accent4">
                      <a:lumMod val="20000"/>
                      <a:lumOff val="80000"/>
                    </a:schemeClr>
                  </a:gs>
                  <a:gs pos="35000">
                    <a:schemeClr val="accent4">
                      <a:lumMod val="60000"/>
                      <a:lumOff val="40000"/>
                    </a:schemeClr>
                  </a:gs>
                </a:gsLst>
                <a:lin ang="5400000" scaled="0"/>
              </a:gradFill>
              <a:effectLst/>
              <a:latin typeface="方正黑体_GBK" panose="02010600010101010101" charset="-122"/>
              <a:ea typeface="方正黑体_GBK" panose="0201060001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4929" y="933092"/>
            <a:ext cx="11535142" cy="963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09600" fontAlgn="auto">
              <a:lnSpc>
                <a:spcPts val="3400"/>
              </a:lnSpc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说明：该部分须概述项目的基本情况、发展历程等，清晰呈现项目的整体框架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不超过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页。</a:t>
            </a:r>
            <a:endParaRPr lang="zh-CN" altLang="en-US" sz="2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83515" y="762000"/>
            <a:ext cx="5836285" cy="52070"/>
            <a:chOff x="289" y="1200"/>
            <a:chExt cx="9191" cy="82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289" y="1260"/>
              <a:ext cx="9178" cy="22"/>
            </a:xfrm>
            <a:prstGeom prst="line">
              <a:avLst/>
            </a:prstGeom>
            <a:ln w="101600" cap="rnd">
              <a:gradFill>
                <a:gsLst>
                  <a:gs pos="50000">
                    <a:srgbClr val="004878">
                      <a:lumMod val="99000"/>
                    </a:srgbClr>
                  </a:gs>
                  <a:gs pos="12000">
                    <a:schemeClr val="accent4">
                      <a:lumMod val="20000"/>
                      <a:lumOff val="80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round/>
            </a:ln>
            <a:effectLst/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>
              <a:off x="302" y="1200"/>
              <a:ext cx="9178" cy="22"/>
            </a:xfrm>
            <a:prstGeom prst="line">
              <a:avLst/>
            </a:prstGeom>
            <a:ln w="79375" cap="rnd">
              <a:solidFill>
                <a:srgbClr val="00497B">
                  <a:alpha val="64000"/>
                </a:srgbClr>
              </a:solidFill>
              <a:round/>
            </a:ln>
            <a:effectLst/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1776330628-1"/>
          <p:cNvPicPr>
            <a:picLocks noChangeAspect="1"/>
          </p:cNvPicPr>
          <p:nvPr/>
        </p:nvPicPr>
        <p:blipFill>
          <a:blip r:embed="rId1"/>
          <a:srcRect l="10157" r="10315"/>
          <a:stretch>
            <a:fillRect/>
          </a:stretch>
        </p:blipFill>
        <p:spPr>
          <a:xfrm rot="5400000">
            <a:off x="2610485" y="-2722880"/>
            <a:ext cx="6908165" cy="122555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7639" y="74930"/>
            <a:ext cx="6071235" cy="64516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threePt" dir="t">
                <a:rot lat="0" lon="0" rev="2400000"/>
              </a:lightRig>
            </a:scene3d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3600" b="1">
                <a:gradFill>
                  <a:gsLst>
                    <a:gs pos="97000">
                      <a:schemeClr val="bg1"/>
                    </a:gs>
                    <a:gs pos="82000">
                      <a:schemeClr val="accent4">
                        <a:lumMod val="20000"/>
                        <a:lumOff val="80000"/>
                      </a:schemeClr>
                    </a:gs>
                    <a:gs pos="35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effectLst/>
                <a:latin typeface="方正黑体_GBK" panose="02010600010101010101" charset="-122"/>
                <a:ea typeface="方正黑体_GBK" panose="02010600010101010101" charset="-122"/>
              </a:rPr>
              <a:t>三、核心技术</a:t>
            </a:r>
            <a:endParaRPr lang="zh-CN" altLang="en-US" sz="3600" b="1">
              <a:gradFill>
                <a:gsLst>
                  <a:gs pos="97000">
                    <a:schemeClr val="bg1"/>
                  </a:gs>
                  <a:gs pos="82000">
                    <a:schemeClr val="accent4">
                      <a:lumMod val="20000"/>
                      <a:lumOff val="80000"/>
                    </a:schemeClr>
                  </a:gs>
                  <a:gs pos="35000">
                    <a:schemeClr val="accent4">
                      <a:lumMod val="60000"/>
                      <a:lumOff val="40000"/>
                    </a:schemeClr>
                  </a:gs>
                </a:gsLst>
                <a:lin ang="5400000" scaled="0"/>
              </a:gradFill>
              <a:effectLst/>
              <a:latin typeface="方正黑体_GBK" panose="02010600010101010101" charset="-122"/>
              <a:ea typeface="方正黑体_GBK" panose="0201060001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4929" y="933092"/>
            <a:ext cx="11535142" cy="963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09600" fontAlgn="auto">
              <a:lnSpc>
                <a:spcPts val="3400"/>
              </a:lnSpc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说明：该部分须重点阐述项目的核心技术原理、独特优势或创新亮点，如有相关论文、专利等可列举说明技术的可行性、成熟度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不超过4页。</a:t>
            </a:r>
            <a:endParaRPr lang="zh-CN" altLang="en-US" sz="2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83515" y="741680"/>
            <a:ext cx="3858895" cy="38735"/>
            <a:chOff x="2859" y="4551"/>
            <a:chExt cx="6077" cy="61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2859" y="4602"/>
              <a:ext cx="5991" cy="11"/>
            </a:xfrm>
            <a:prstGeom prst="line">
              <a:avLst/>
            </a:prstGeom>
            <a:ln w="101600" cap="rnd">
              <a:gradFill>
                <a:gsLst>
                  <a:gs pos="50000">
                    <a:srgbClr val="004878">
                      <a:lumMod val="99000"/>
                    </a:srgbClr>
                  </a:gs>
                  <a:gs pos="12000">
                    <a:schemeClr val="accent4">
                      <a:lumMod val="20000"/>
                      <a:lumOff val="80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round/>
            </a:ln>
            <a:effectLst/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>
              <a:off x="2946" y="4551"/>
              <a:ext cx="5991" cy="11"/>
            </a:xfrm>
            <a:prstGeom prst="line">
              <a:avLst/>
            </a:prstGeom>
            <a:ln w="79375" cap="rnd">
              <a:solidFill>
                <a:srgbClr val="00497B">
                  <a:alpha val="64000"/>
                </a:srgbClr>
              </a:solidFill>
              <a:round/>
            </a:ln>
            <a:effectLst/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1776330628-1"/>
          <p:cNvPicPr>
            <a:picLocks noChangeAspect="1"/>
          </p:cNvPicPr>
          <p:nvPr/>
        </p:nvPicPr>
        <p:blipFill>
          <a:blip r:embed="rId1"/>
          <a:srcRect l="10157" r="10315"/>
          <a:stretch>
            <a:fillRect/>
          </a:stretch>
        </p:blipFill>
        <p:spPr>
          <a:xfrm rot="5400000">
            <a:off x="2610485" y="-2722880"/>
            <a:ext cx="6908165" cy="122555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7639" y="74930"/>
            <a:ext cx="6071235" cy="64516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threePt" dir="t">
                <a:rot lat="0" lon="0" rev="2400000"/>
              </a:lightRig>
            </a:scene3d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3600" b="1">
                <a:gradFill>
                  <a:gsLst>
                    <a:gs pos="97000">
                      <a:schemeClr val="bg1"/>
                    </a:gs>
                    <a:gs pos="82000">
                      <a:schemeClr val="accent4">
                        <a:lumMod val="20000"/>
                        <a:lumOff val="80000"/>
                      </a:schemeClr>
                    </a:gs>
                    <a:gs pos="35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effectLst/>
                <a:latin typeface="方正黑体_GBK" panose="02010600010101010101" charset="-122"/>
                <a:ea typeface="方正黑体_GBK" panose="02010600010101010101" charset="-122"/>
              </a:rPr>
              <a:t>四、商业模式</a:t>
            </a:r>
            <a:endParaRPr lang="zh-CN" altLang="en-US" sz="3600" b="1">
              <a:gradFill>
                <a:gsLst>
                  <a:gs pos="97000">
                    <a:schemeClr val="bg1"/>
                  </a:gs>
                  <a:gs pos="82000">
                    <a:schemeClr val="accent4">
                      <a:lumMod val="20000"/>
                      <a:lumOff val="80000"/>
                    </a:schemeClr>
                  </a:gs>
                  <a:gs pos="35000">
                    <a:schemeClr val="accent4">
                      <a:lumMod val="60000"/>
                      <a:lumOff val="40000"/>
                    </a:schemeClr>
                  </a:gs>
                </a:gsLst>
                <a:lin ang="5400000" scaled="0"/>
              </a:gradFill>
              <a:effectLst/>
              <a:latin typeface="方正黑体_GBK" panose="02010600010101010101" charset="-122"/>
              <a:ea typeface="方正黑体_GBK" panose="0201060001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4929" y="933092"/>
            <a:ext cx="11535142" cy="1398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09600" algn="l" fontAlgn="auto">
              <a:lnSpc>
                <a:spcPts val="3400"/>
              </a:lnSpc>
              <a:buClrTx/>
              <a:buSzTx/>
              <a:buFontTx/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说明：该部分须阐述项目商业模式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营销策略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财务管理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发展战略等科学性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适配性与可操作性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以及项目市场定位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发展前景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盈利模式等合理性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如已成立公司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请说明盈利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财务及融资等情况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不超过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83515" y="741680"/>
            <a:ext cx="3858895" cy="38735"/>
            <a:chOff x="2859" y="4551"/>
            <a:chExt cx="6077" cy="61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2859" y="4602"/>
              <a:ext cx="5991" cy="11"/>
            </a:xfrm>
            <a:prstGeom prst="line">
              <a:avLst/>
            </a:prstGeom>
            <a:ln w="101600" cap="rnd">
              <a:gradFill>
                <a:gsLst>
                  <a:gs pos="50000">
                    <a:srgbClr val="004878">
                      <a:lumMod val="99000"/>
                    </a:srgbClr>
                  </a:gs>
                  <a:gs pos="12000">
                    <a:schemeClr val="accent4">
                      <a:lumMod val="20000"/>
                      <a:lumOff val="80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round/>
            </a:ln>
            <a:effectLst/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>
              <a:off x="2946" y="4551"/>
              <a:ext cx="5991" cy="11"/>
            </a:xfrm>
            <a:prstGeom prst="line">
              <a:avLst/>
            </a:prstGeom>
            <a:ln w="79375" cap="rnd">
              <a:solidFill>
                <a:srgbClr val="00497B">
                  <a:alpha val="64000"/>
                </a:srgbClr>
              </a:solidFill>
              <a:round/>
            </a:ln>
            <a:effectLst/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1776330628-1"/>
          <p:cNvPicPr>
            <a:picLocks noChangeAspect="1"/>
          </p:cNvPicPr>
          <p:nvPr/>
        </p:nvPicPr>
        <p:blipFill>
          <a:blip r:embed="rId1"/>
          <a:srcRect l="10157" r="10315"/>
          <a:stretch>
            <a:fillRect/>
          </a:stretch>
        </p:blipFill>
        <p:spPr>
          <a:xfrm rot="5400000">
            <a:off x="2610485" y="-2722880"/>
            <a:ext cx="6908165" cy="122555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7639" y="74930"/>
            <a:ext cx="6071235" cy="64516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threePt" dir="t">
                <a:rot lat="0" lon="0" rev="2400000"/>
              </a:lightRig>
            </a:scene3d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3600" b="1">
                <a:gradFill>
                  <a:gsLst>
                    <a:gs pos="97000">
                      <a:schemeClr val="bg1"/>
                    </a:gs>
                    <a:gs pos="82000">
                      <a:schemeClr val="accent4">
                        <a:lumMod val="20000"/>
                        <a:lumOff val="80000"/>
                      </a:schemeClr>
                    </a:gs>
                    <a:gs pos="35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effectLst/>
                <a:latin typeface="方正黑体_GBK" panose="02010600010101010101" charset="-122"/>
                <a:ea typeface="方正黑体_GBK" panose="02010600010101010101" charset="-122"/>
              </a:rPr>
              <a:t>五、项目应用</a:t>
            </a:r>
            <a:endParaRPr lang="zh-CN" altLang="en-US" sz="3600" b="1">
              <a:gradFill>
                <a:gsLst>
                  <a:gs pos="97000">
                    <a:schemeClr val="bg1"/>
                  </a:gs>
                  <a:gs pos="82000">
                    <a:schemeClr val="accent4">
                      <a:lumMod val="20000"/>
                      <a:lumOff val="80000"/>
                    </a:schemeClr>
                  </a:gs>
                  <a:gs pos="35000">
                    <a:schemeClr val="accent4">
                      <a:lumMod val="60000"/>
                      <a:lumOff val="40000"/>
                    </a:schemeClr>
                  </a:gs>
                </a:gsLst>
                <a:lin ang="5400000" scaled="0"/>
              </a:gradFill>
              <a:effectLst/>
              <a:latin typeface="方正黑体_GBK" panose="02010600010101010101" charset="-122"/>
              <a:ea typeface="方正黑体_GBK" panose="0201060001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4929" y="933092"/>
            <a:ext cx="11535142" cy="963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09600" algn="l" fontAlgn="auto">
              <a:lnSpc>
                <a:spcPts val="3400"/>
              </a:lnSpc>
              <a:buClrTx/>
              <a:buSzTx/>
              <a:buFontTx/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说明：该部分须阐述项目应用场景、行业认可，或已落地进展及应用效果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不超过4页。</a:t>
            </a:r>
            <a:endParaRPr lang="zh-CN" altLang="en-US" sz="2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83515" y="741680"/>
            <a:ext cx="3858895" cy="38735"/>
            <a:chOff x="2859" y="4551"/>
            <a:chExt cx="6077" cy="61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2859" y="4602"/>
              <a:ext cx="5991" cy="11"/>
            </a:xfrm>
            <a:prstGeom prst="line">
              <a:avLst/>
            </a:prstGeom>
            <a:ln w="101600" cap="rnd">
              <a:gradFill>
                <a:gsLst>
                  <a:gs pos="50000">
                    <a:srgbClr val="004878">
                      <a:lumMod val="99000"/>
                    </a:srgbClr>
                  </a:gs>
                  <a:gs pos="12000">
                    <a:schemeClr val="accent4">
                      <a:lumMod val="20000"/>
                      <a:lumOff val="80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round/>
            </a:ln>
            <a:effectLst/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>
              <a:off x="2946" y="4551"/>
              <a:ext cx="5991" cy="11"/>
            </a:xfrm>
            <a:prstGeom prst="line">
              <a:avLst/>
            </a:prstGeom>
            <a:ln w="79375" cap="rnd">
              <a:solidFill>
                <a:srgbClr val="00497B">
                  <a:alpha val="64000"/>
                </a:srgbClr>
              </a:solidFill>
              <a:round/>
            </a:ln>
            <a:effectLst/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1776330628-1"/>
          <p:cNvPicPr>
            <a:picLocks noChangeAspect="1"/>
          </p:cNvPicPr>
          <p:nvPr/>
        </p:nvPicPr>
        <p:blipFill>
          <a:blip r:embed="rId1"/>
          <a:srcRect l="10157" r="10315"/>
          <a:stretch>
            <a:fillRect/>
          </a:stretch>
        </p:blipFill>
        <p:spPr>
          <a:xfrm rot="5400000">
            <a:off x="2610485" y="-2722880"/>
            <a:ext cx="6908165" cy="122555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7639" y="74930"/>
            <a:ext cx="6071235" cy="64516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threePt" dir="t">
                <a:rot lat="0" lon="0" rev="2400000"/>
              </a:lightRig>
            </a:scene3d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3600" b="1">
                <a:gradFill>
                  <a:gsLst>
                    <a:gs pos="97000">
                      <a:schemeClr val="bg1"/>
                    </a:gs>
                    <a:gs pos="82000">
                      <a:schemeClr val="accent4">
                        <a:lumMod val="20000"/>
                        <a:lumOff val="80000"/>
                      </a:schemeClr>
                    </a:gs>
                    <a:gs pos="35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effectLst/>
                <a:latin typeface="方正黑体_GBK" panose="02010600010101010101" charset="-122"/>
                <a:ea typeface="方正黑体_GBK" panose="02010600010101010101" charset="-122"/>
              </a:rPr>
              <a:t>六、社会价值</a:t>
            </a:r>
            <a:endParaRPr lang="zh-CN" altLang="en-US" sz="3600" b="1">
              <a:gradFill>
                <a:gsLst>
                  <a:gs pos="97000">
                    <a:schemeClr val="bg1"/>
                  </a:gs>
                  <a:gs pos="82000">
                    <a:schemeClr val="accent4">
                      <a:lumMod val="20000"/>
                      <a:lumOff val="80000"/>
                    </a:schemeClr>
                  </a:gs>
                  <a:gs pos="35000">
                    <a:schemeClr val="accent4">
                      <a:lumMod val="60000"/>
                      <a:lumOff val="40000"/>
                    </a:schemeClr>
                  </a:gs>
                </a:gsLst>
                <a:lin ang="5400000" scaled="0"/>
              </a:gradFill>
              <a:effectLst/>
              <a:latin typeface="方正黑体_GBK" panose="02010600010101010101" charset="-122"/>
              <a:ea typeface="方正黑体_GBK" panose="0201060001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4929" y="933092"/>
            <a:ext cx="11535142" cy="1398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09600" algn="l" fontAlgn="auto">
              <a:lnSpc>
                <a:spcPts val="3400"/>
              </a:lnSpc>
              <a:buClrTx/>
              <a:buSzTx/>
              <a:buFontTx/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说明：该部分须阐述项目赋能产业发展、优化服务供给、拓展就业空间、提升民生保障水平、促进交流合作、助力地方经济社会高质量发展等方面的实际成效与长效价值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不超过1页。</a:t>
            </a:r>
            <a:endParaRPr lang="zh-CN" altLang="en-US" sz="2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83515" y="741680"/>
            <a:ext cx="3858895" cy="38735"/>
            <a:chOff x="2859" y="4551"/>
            <a:chExt cx="6077" cy="61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2859" y="4602"/>
              <a:ext cx="5991" cy="11"/>
            </a:xfrm>
            <a:prstGeom prst="line">
              <a:avLst/>
            </a:prstGeom>
            <a:ln w="101600" cap="rnd">
              <a:gradFill>
                <a:gsLst>
                  <a:gs pos="50000">
                    <a:srgbClr val="004878">
                      <a:lumMod val="99000"/>
                    </a:srgbClr>
                  </a:gs>
                  <a:gs pos="12000">
                    <a:schemeClr val="accent4">
                      <a:lumMod val="20000"/>
                      <a:lumOff val="80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round/>
            </a:ln>
            <a:effectLst/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>
              <a:off x="2946" y="4551"/>
              <a:ext cx="5991" cy="11"/>
            </a:xfrm>
            <a:prstGeom prst="line">
              <a:avLst/>
            </a:prstGeom>
            <a:ln w="79375" cap="rnd">
              <a:solidFill>
                <a:srgbClr val="00497B">
                  <a:alpha val="64000"/>
                </a:srgbClr>
              </a:solidFill>
              <a:round/>
            </a:ln>
            <a:effectLst/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1776330628-1"/>
          <p:cNvPicPr>
            <a:picLocks noChangeAspect="1"/>
          </p:cNvPicPr>
          <p:nvPr/>
        </p:nvPicPr>
        <p:blipFill>
          <a:blip r:embed="rId1"/>
          <a:srcRect l="10157" r="10315"/>
          <a:stretch>
            <a:fillRect/>
          </a:stretch>
        </p:blipFill>
        <p:spPr>
          <a:xfrm rot="5400000">
            <a:off x="2610485" y="-2722880"/>
            <a:ext cx="6908165" cy="122555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7639" y="74930"/>
            <a:ext cx="6071235" cy="64516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threePt" dir="t">
                <a:rot lat="0" lon="0" rev="2400000"/>
              </a:lightRig>
            </a:scene3d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3600" b="1">
                <a:gradFill>
                  <a:gsLst>
                    <a:gs pos="97000">
                      <a:schemeClr val="bg1"/>
                    </a:gs>
                    <a:gs pos="82000">
                      <a:schemeClr val="accent4">
                        <a:lumMod val="20000"/>
                        <a:lumOff val="80000"/>
                      </a:schemeClr>
                    </a:gs>
                    <a:gs pos="35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effectLst/>
                <a:latin typeface="方正黑体_GBK" panose="02010600010101010101" charset="-122"/>
                <a:ea typeface="方正黑体_GBK" panose="02010600010101010101" charset="-122"/>
              </a:rPr>
              <a:t>七、团队介绍</a:t>
            </a:r>
            <a:endParaRPr lang="zh-CN" altLang="en-US" sz="3600" b="1">
              <a:gradFill>
                <a:gsLst>
                  <a:gs pos="97000">
                    <a:schemeClr val="bg1"/>
                  </a:gs>
                  <a:gs pos="82000">
                    <a:schemeClr val="accent4">
                      <a:lumMod val="20000"/>
                      <a:lumOff val="80000"/>
                    </a:schemeClr>
                  </a:gs>
                  <a:gs pos="35000">
                    <a:schemeClr val="accent4">
                      <a:lumMod val="60000"/>
                      <a:lumOff val="40000"/>
                    </a:schemeClr>
                  </a:gs>
                </a:gsLst>
                <a:lin ang="5400000" scaled="0"/>
              </a:gradFill>
              <a:effectLst/>
              <a:latin typeface="方正黑体_GBK" panose="02010600010101010101" charset="-122"/>
              <a:ea typeface="方正黑体_GBK" panose="0201060001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4929" y="933092"/>
            <a:ext cx="11535142" cy="963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09600" algn="l" fontAlgn="auto">
              <a:lnSpc>
                <a:spcPts val="3400"/>
              </a:lnSpc>
              <a:buClrTx/>
              <a:buSzTx/>
              <a:buFontTx/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说明：该部分须展示团队成员的专业背景、核心能力与分工协作等情况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不超过1页。</a:t>
            </a:r>
            <a:endParaRPr lang="zh-CN" altLang="en-US" sz="2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83515" y="741680"/>
            <a:ext cx="3858895" cy="38735"/>
            <a:chOff x="2859" y="4551"/>
            <a:chExt cx="6077" cy="61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2859" y="4602"/>
              <a:ext cx="5991" cy="11"/>
            </a:xfrm>
            <a:prstGeom prst="line">
              <a:avLst/>
            </a:prstGeom>
            <a:ln w="101600" cap="rnd">
              <a:gradFill>
                <a:gsLst>
                  <a:gs pos="50000">
                    <a:srgbClr val="004878">
                      <a:lumMod val="99000"/>
                    </a:srgbClr>
                  </a:gs>
                  <a:gs pos="12000">
                    <a:schemeClr val="accent4">
                      <a:lumMod val="20000"/>
                      <a:lumOff val="80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round/>
            </a:ln>
            <a:effectLst/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>
              <a:off x="2946" y="4551"/>
              <a:ext cx="5991" cy="11"/>
            </a:xfrm>
            <a:prstGeom prst="line">
              <a:avLst/>
            </a:prstGeom>
            <a:ln w="79375" cap="rnd">
              <a:solidFill>
                <a:srgbClr val="00497B">
                  <a:alpha val="64000"/>
                </a:srgbClr>
              </a:solidFill>
              <a:round/>
            </a:ln>
            <a:effectLst/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1776330628-1"/>
          <p:cNvPicPr>
            <a:picLocks noChangeAspect="1"/>
          </p:cNvPicPr>
          <p:nvPr/>
        </p:nvPicPr>
        <p:blipFill>
          <a:blip r:embed="rId1"/>
          <a:srcRect l="10157" r="10315"/>
          <a:stretch>
            <a:fillRect/>
          </a:stretch>
        </p:blipFill>
        <p:spPr>
          <a:xfrm rot="5400000">
            <a:off x="2610485" y="-2722880"/>
            <a:ext cx="6908165" cy="122555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7639" y="74930"/>
            <a:ext cx="6071235" cy="645160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threePt" dir="t">
                <a:rot lat="0" lon="0" rev="2400000"/>
              </a:lightRig>
            </a:scene3d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3600" b="1">
                <a:gradFill>
                  <a:gsLst>
                    <a:gs pos="97000">
                      <a:schemeClr val="bg1"/>
                    </a:gs>
                    <a:gs pos="82000">
                      <a:schemeClr val="accent4">
                        <a:lumMod val="20000"/>
                        <a:lumOff val="80000"/>
                      </a:schemeClr>
                    </a:gs>
                    <a:gs pos="35000">
                      <a:schemeClr val="accent4">
                        <a:lumMod val="60000"/>
                        <a:lumOff val="40000"/>
                      </a:schemeClr>
                    </a:gs>
                  </a:gsLst>
                  <a:lin ang="5400000" scaled="0"/>
                </a:gradFill>
                <a:effectLst/>
                <a:latin typeface="方正黑体_GBK" panose="02010600010101010101" charset="-122"/>
                <a:ea typeface="方正黑体_GBK" panose="02010600010101010101" charset="-122"/>
              </a:rPr>
              <a:t>八、未来展望</a:t>
            </a:r>
            <a:endParaRPr lang="zh-CN" altLang="en-US" sz="3600" b="1">
              <a:gradFill>
                <a:gsLst>
                  <a:gs pos="97000">
                    <a:schemeClr val="bg1"/>
                  </a:gs>
                  <a:gs pos="82000">
                    <a:schemeClr val="accent4">
                      <a:lumMod val="20000"/>
                      <a:lumOff val="80000"/>
                    </a:schemeClr>
                  </a:gs>
                  <a:gs pos="35000">
                    <a:schemeClr val="accent4">
                      <a:lumMod val="60000"/>
                      <a:lumOff val="40000"/>
                    </a:schemeClr>
                  </a:gs>
                </a:gsLst>
                <a:lin ang="5400000" scaled="0"/>
              </a:gradFill>
              <a:effectLst/>
              <a:latin typeface="方正黑体_GBK" panose="02010600010101010101" charset="-122"/>
              <a:ea typeface="方正黑体_GBK" panose="0201060001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4929" y="933092"/>
            <a:ext cx="11535142" cy="963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609600" algn="l" fontAlgn="auto">
              <a:lnSpc>
                <a:spcPts val="3400"/>
              </a:lnSpc>
              <a:buClrTx/>
              <a:buSzTx/>
              <a:buFontTx/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说明：该部分须阐述项目短期发展目标与阶段性规划，以及后续技术迭代、市场推广、规模拓展的长远发展前景；不超过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页。</a:t>
            </a:r>
            <a:endParaRPr lang="zh-CN" altLang="en-US" sz="2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83515" y="741680"/>
            <a:ext cx="3858895" cy="38735"/>
            <a:chOff x="2859" y="4551"/>
            <a:chExt cx="6077" cy="61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2859" y="4602"/>
              <a:ext cx="5991" cy="11"/>
            </a:xfrm>
            <a:prstGeom prst="line">
              <a:avLst/>
            </a:prstGeom>
            <a:ln w="101600" cap="rnd">
              <a:gradFill>
                <a:gsLst>
                  <a:gs pos="50000">
                    <a:srgbClr val="004878">
                      <a:lumMod val="99000"/>
                    </a:srgbClr>
                  </a:gs>
                  <a:gs pos="12000">
                    <a:schemeClr val="accent4">
                      <a:lumMod val="20000"/>
                      <a:lumOff val="80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round/>
            </a:ln>
            <a:effectLst/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>
              <a:off x="2946" y="4551"/>
              <a:ext cx="5991" cy="11"/>
            </a:xfrm>
            <a:prstGeom prst="line">
              <a:avLst/>
            </a:prstGeom>
            <a:ln w="79375" cap="rnd">
              <a:solidFill>
                <a:srgbClr val="00497B">
                  <a:alpha val="64000"/>
                </a:srgbClr>
              </a:solidFill>
              <a:round/>
            </a:ln>
            <a:effectLst/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776330628-1"/>
          <p:cNvPicPr>
            <a:picLocks noChangeAspect="1"/>
          </p:cNvPicPr>
          <p:nvPr/>
        </p:nvPicPr>
        <p:blipFill>
          <a:blip r:embed="rId1"/>
          <a:srcRect l="10157" r="10315"/>
          <a:stretch>
            <a:fillRect/>
          </a:stretch>
        </p:blipFill>
        <p:spPr>
          <a:xfrm rot="5400000">
            <a:off x="2625090" y="-2709545"/>
            <a:ext cx="6941820" cy="121926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7639" y="74930"/>
            <a:ext cx="6071235" cy="70675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>
                <a:rot lat="0" lon="0" rev="0"/>
              </a:camera>
              <a:lightRig rig="threePt" dir="t">
                <a:rot lat="0" lon="0" rev="2400000"/>
              </a:lightRig>
            </a:scene3d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4000" b="1">
                <a:solidFill>
                  <a:schemeClr val="bg1"/>
                </a:solidFill>
                <a:effectLst/>
                <a:latin typeface="方正黑体_GBK" panose="02010600010101010101" charset="-122"/>
                <a:ea typeface="方正黑体_GBK" panose="02010600010101010101" charset="-122"/>
              </a:rPr>
              <a:t>版式说明</a:t>
            </a:r>
            <a:endParaRPr lang="zh-CN" altLang="en-US" sz="4000" b="1">
              <a:solidFill>
                <a:schemeClr val="bg1"/>
              </a:solidFill>
              <a:effectLst/>
              <a:latin typeface="方正黑体_GBK" panose="02010600010101010101" charset="-122"/>
              <a:ea typeface="方正黑体_GBK" panose="0201060001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4795" y="932815"/>
            <a:ext cx="11535410" cy="55067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项目展示须围绕模板规定的</a:t>
            </a:r>
            <a:r>
              <a:rPr lang="en-US" altLang="zh-CN" sz="2400">
                <a:solidFill>
                  <a:schemeClr val="bg1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8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个部分呈现，内容完整、逻辑清晰，确无相关内容可删减对应页面，但不得调整顺序、不得偏离核心框架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背景颜色仅作为参考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各部分页数均不得超出说明规定的上限要求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请遵循简洁、实用、清晰原则，以作品内容为核心，标题贴合项目实际、规范准确，不使用谐音等不规范表述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内容设计不追求过度视觉化、艺术化效果，不随意使用复杂动效、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3D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渲染、特效字体等美化形式</a:t>
            </a:r>
            <a:endParaRPr lang="zh-CN" altLang="en-US" sz="2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页面比例统一为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16:9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，文件应符合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软件播放要求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altLang="zh-CN" sz="2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此页仅作为</a:t>
            </a:r>
            <a:r>
              <a:rPr lang="en-US" altLang="zh-CN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版式说明，不作为正文内容，正式提交时请删除此页，各页说明也请在提交时删除。</a:t>
            </a:r>
            <a:endParaRPr lang="zh-CN" altLang="en-US" sz="2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83515" y="741680"/>
            <a:ext cx="2079625" cy="76200"/>
            <a:chOff x="2859" y="4551"/>
            <a:chExt cx="6077" cy="61"/>
          </a:xfrm>
        </p:grpSpPr>
        <p:cxnSp>
          <p:nvCxnSpPr>
            <p:cNvPr id="3" name="直接连接符 2"/>
            <p:cNvCxnSpPr/>
            <p:nvPr/>
          </p:nvCxnSpPr>
          <p:spPr>
            <a:xfrm>
              <a:off x="2859" y="4602"/>
              <a:ext cx="5991" cy="11"/>
            </a:xfrm>
            <a:prstGeom prst="line">
              <a:avLst/>
            </a:prstGeom>
            <a:ln w="101600" cap="rnd">
              <a:gradFill>
                <a:gsLst>
                  <a:gs pos="50000">
                    <a:srgbClr val="004878">
                      <a:lumMod val="99000"/>
                    </a:srgbClr>
                  </a:gs>
                  <a:gs pos="12000">
                    <a:schemeClr val="accent4">
                      <a:lumMod val="20000"/>
                      <a:lumOff val="80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round/>
            </a:ln>
            <a:effectLst/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>
              <a:off x="2946" y="4551"/>
              <a:ext cx="5991" cy="11"/>
            </a:xfrm>
            <a:prstGeom prst="line">
              <a:avLst/>
            </a:prstGeom>
            <a:ln w="79375" cap="rnd">
              <a:solidFill>
                <a:srgbClr val="00497B">
                  <a:alpha val="64000"/>
                </a:srgbClr>
              </a:solidFill>
              <a:round/>
            </a:ln>
            <a:effectLst/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773</Words>
  <Application>WPS 演示</Application>
  <PresentationFormat>宽屏</PresentationFormat>
  <Paragraphs>39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方正黑体_GBK</vt:lpstr>
      <vt:lpstr>微软雅黑</vt:lpstr>
      <vt:lpstr>Wingdings</vt:lpstr>
      <vt:lpstr>Times New Roman</vt:lpstr>
      <vt:lpstr>Arial Unicode MS</vt:lpstr>
      <vt:lpstr>等线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乐夫 于</dc:creator>
  <cp:lastModifiedBy>聂坚兵</cp:lastModifiedBy>
  <cp:revision>31</cp:revision>
  <dcterms:created xsi:type="dcterms:W3CDTF">2026-04-17T06:19:00Z</dcterms:created>
  <dcterms:modified xsi:type="dcterms:W3CDTF">2026-10-19T09:12:41Z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710528F9732548F28017D3DB807A0556_13</vt:lpwstr>
  </property>
  <property fmtid="{D5CDD505-2E9C-101B-9397-08002B2CF9AE}" pid="3" name="KSOProductBuildVer">
    <vt:lpwstr>2052-12.1.0.28043</vt:lpwstr>
  </property>
</Properties>
</file>